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246120"/>
            <a:ext cx="6172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Project - </a:t>
            </a:r>
            <a:r>
              <a:rPr b="1" i="0" lang="en-US" sz="1300" u="none" cap="none" strike="noStrike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Axiom: multi-pass agentic code retrieval</a:t>
            </a:r>
            <a:endParaRPr/>
          </a:p>
          <a:p>
            <a:pPr indent="-177800" lvl="0" marL="177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</a:t>
            </a:r>
            <a:r>
              <a:rPr b="1" i="0" lang="en-US" sz="1300" u="none" cap="none" strike="noStrike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01 · Agentic Code Intelligence</a:t>
            </a:r>
            <a:endParaRPr/>
          </a:p>
          <a:p>
            <a:pPr indent="-177800" lvl="0" marL="177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</a:t>
            </a:r>
            <a:r>
              <a:rPr b="1" i="0" lang="en-US" sz="1300" u="none" cap="none" strike="noStrike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Incognito</a:t>
            </a:r>
            <a:endParaRPr/>
          </a:p>
          <a:p>
            <a:pPr indent="-177800" lvl="0" marL="177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</a:t>
            </a:r>
            <a:r>
              <a:rPr b="1" i="0" lang="en-US" sz="1300" u="none" cap="none" strike="noStrike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Thapar Institute of Engineering &amp; Technology, Patiala</a:t>
            </a:r>
            <a:endParaRPr/>
          </a:p>
          <a:p>
            <a:pPr indent="-177800" lvl="0" marL="177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</a:t>
            </a:r>
            <a:r>
              <a:rPr b="1" i="0" lang="en-US" sz="1300" u="none" cap="none" strike="noStrike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Prabinder Singh · psingh16_be24@thapar.edu</a:t>
            </a:r>
            <a:endParaRPr/>
          </a:p>
          <a:p>
            <a:pPr indent="-177800" lvl="0" marL="177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</a:t>
            </a:r>
            <a:r>
              <a:rPr b="1" i="0" lang="en-US" sz="1300" u="none" cap="none" strike="noStrike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Anish Grover · agrover_be24@thapar.edu</a:t>
            </a:r>
            <a:endParaRPr/>
          </a:p>
          <a:p>
            <a:pPr indent="-177800" lvl="0" marL="177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</a:t>
            </a:r>
            <a:r>
              <a:rPr b="1" i="0" lang="en-US" sz="1300" u="none" cap="none" strike="noStrike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Harshdeep Athawale · hathawale_be24@thapar.edu</a:t>
            </a:r>
            <a:endParaRPr/>
          </a:p>
          <a:p>
            <a:pPr indent="-177800" lvl="0" marL="177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 </a:t>
            </a:r>
            <a:r>
              <a:rPr b="1" i="0" lang="en-US" sz="1300" u="none" cap="none" strike="noStrike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Parth Deshmukh · pdeshmukh_be24@thapar.edu</a:t>
            </a:r>
            <a:endParaRPr/>
          </a:p>
          <a:p>
            <a:pPr indent="-177800" lvl="0" marL="177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</a:t>
            </a:r>
            <a:r>
              <a:rPr b="1" i="0" lang="en-US" sz="1300" u="none" cap="none" strike="noStrike">
                <a:solidFill>
                  <a:srgbClr val="14142B"/>
                </a:solidFill>
                <a:latin typeface="Calibri"/>
                <a:ea typeface="Calibri"/>
                <a:cs typeface="Calibri"/>
                <a:sym typeface="Calibri"/>
              </a:rPr>
              <a:t>github.com/HarshdeepAthawale/AXIOM</a:t>
            </a:r>
            <a:endParaRPr/>
          </a:p>
          <a:p>
            <a:pPr indent="-76200" lvl="0" marL="177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sz="1300"/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768096" y="32004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6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841248" y="1325880"/>
            <a:ext cx="35661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6D28D9"/>
                </a:solidFill>
                <a:latin typeface="Calibri"/>
              </a:rPr>
              <a:t>THEME 01 · AGENTIC CODE INTELLIGENCE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41248" y="1828800"/>
            <a:ext cx="5074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4142B"/>
                </a:solidFill>
                <a:latin typeface="Calibri"/>
              </a:rPr>
              <a:t>Engineers rarely ask for new code. They ask: </a:t>
            </a:r>
            <a:r>
              <a:rPr sz="2600" b="1" i="0">
                <a:solidFill>
                  <a:srgbClr val="6D28D9"/>
                </a:solidFill>
                <a:latin typeface="Calibri"/>
              </a:rPr>
              <a:t>where does this already happen?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41248" y="324612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63637E"/>
                </a:solidFill>
                <a:latin typeface="Calibri"/>
              </a:rPr>
              <a:t>Voice-assistant codebases span thousands of JavaScript files and dozens of agents and tools. Given a natural-language query, Axiom returns a ranked list of code snippets with exact file:line locations.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63637E"/>
                </a:solidFill>
                <a:latin typeface="Calibri"/>
              </a:rPr>
              <a:t>Retrieval, not generation: we find and rank existing code, we never write it.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41248" y="50749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6F4FD"/>
          </a:solidFill>
          <a:ln w="12700">
            <a:solidFill>
              <a:srgbClr val="D9D3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14142B"/>
                </a:solidFill>
                <a:latin typeface="Calibri"/>
              </a:rPr>
              <a:t>Too large for any LLM context window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355848" y="507492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F6F4FD"/>
          </a:solidFill>
          <a:ln w="12700">
            <a:solidFill>
              <a:srgbClr val="D9D3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14142B"/>
                </a:solidFill>
                <a:latin typeface="Calibri"/>
              </a:rPr>
              <a:t>CPU-only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407408" y="507492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F6F4FD"/>
          </a:solidFill>
          <a:ln w="12700">
            <a:solidFill>
              <a:srgbClr val="D9D3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14142B"/>
                </a:solidFill>
                <a:latin typeface="Calibri"/>
              </a:rPr>
              <a:t>Changes every commit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41248" y="562356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142B"/>
                </a:solidFill>
                <a:latin typeface="Calibri"/>
              </a:rPr>
              <a:t>Goals: </a:t>
            </a:r>
            <a:r>
              <a:rPr sz="1200" b="0" i="0">
                <a:solidFill>
                  <a:srgbClr val="63637E"/>
                </a:solidFill>
                <a:latin typeface="Calibri"/>
              </a:rPr>
              <a:t>P0 retrieval accuracy (CoIR AppsRetrieval) · P1 retrieval across versions · Bonus: evolutionary retrieval over all versions at once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355080" y="1325880"/>
            <a:ext cx="5001768" cy="1536192"/>
          </a:xfrm>
          <a:prstGeom prst="roundRect">
            <a:avLst>
              <a:gd name="adj" fmla="val 8000"/>
            </a:avLst>
          </a:prstGeom>
          <a:solidFill>
            <a:srgbClr val="F6F4F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0" name="Oval 109"/>
          <p:cNvSpPr/>
          <p:nvPr/>
        </p:nvSpPr>
        <p:spPr>
          <a:xfrm>
            <a:off x="6583680" y="1810512"/>
            <a:ext cx="566928" cy="56692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60920" y="1435607"/>
            <a:ext cx="3813048" cy="1316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D28D9"/>
                </a:solidFill>
                <a:latin typeface="Calibri"/>
              </a:rPr>
              <a:t>SEMANTIC</a:t>
            </a:r>
          </a:p>
          <a:p>
            <a:pPr algn="l">
              <a:spcAft>
                <a:spcPts val="400"/>
              </a:spcAft>
            </a:pPr>
            <a:r>
              <a:rPr sz="1500" b="1" i="1">
                <a:solidFill>
                  <a:srgbClr val="14142B"/>
                </a:solidFill>
                <a:latin typeface="Calibri"/>
              </a:rPr>
              <a:t>How is the input preprocessed before going to the main function?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“preprocess” appears nowhere in the code; normalize() does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355080" y="2990087"/>
            <a:ext cx="5001768" cy="1536192"/>
          </a:xfrm>
          <a:prstGeom prst="roundRect">
            <a:avLst>
              <a:gd name="adj" fmla="val 8000"/>
            </a:avLst>
          </a:prstGeom>
          <a:solidFill>
            <a:srgbClr val="E8F6F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6583680" y="3474720"/>
            <a:ext cx="566928" cy="566928"/>
          </a:xfrm>
          <a:prstGeom prst="ellipse">
            <a:avLst/>
          </a:prstGeom>
          <a:solidFill>
            <a:srgbClr val="2E9C8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360920" y="3099815"/>
            <a:ext cx="3813048" cy="1316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E9C8F"/>
                </a:solidFill>
                <a:latin typeface="Calibri"/>
              </a:rPr>
              <a:t>STRUCTURAL</a:t>
            </a:r>
          </a:p>
          <a:p>
            <a:pPr algn="l">
              <a:spcAft>
                <a:spcPts val="400"/>
              </a:spcAft>
            </a:pPr>
            <a:r>
              <a:rPr sz="1500" b="1" i="1">
                <a:solidFill>
                  <a:srgbClr val="14142B"/>
                </a:solidFill>
                <a:latin typeface="Calibri"/>
              </a:rPr>
              <a:t>Which files call tool XYZ before tool ABC?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A question about call order, which is not in any snippet’s text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355080" y="4654296"/>
            <a:ext cx="5001768" cy="1536192"/>
          </a:xfrm>
          <a:prstGeom prst="roundRect">
            <a:avLst>
              <a:gd name="adj" fmla="val 8000"/>
            </a:avLst>
          </a:prstGeom>
          <a:solidFill>
            <a:srgbClr val="ECF0F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6" name="Oval 115"/>
          <p:cNvSpPr/>
          <p:nvPr/>
        </p:nvSpPr>
        <p:spPr>
          <a:xfrm>
            <a:off x="6583680" y="5138928"/>
            <a:ext cx="566928" cy="566928"/>
          </a:xfrm>
          <a:prstGeom prst="ellipse">
            <a:avLst/>
          </a:prstGeom>
          <a:solidFill>
            <a:srgbClr val="3B5BD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360920" y="4764024"/>
            <a:ext cx="3813048" cy="1316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B5BD9"/>
                </a:solidFill>
                <a:latin typeface="Calibri"/>
              </a:rPr>
              <a:t>USAGE</a:t>
            </a:r>
          </a:p>
          <a:p>
            <a:pPr algn="l">
              <a:spcAft>
                <a:spcPts val="400"/>
              </a:spcAft>
            </a:pPr>
            <a:r>
              <a:rPr sz="1500" b="1" i="1">
                <a:solidFill>
                  <a:srgbClr val="14142B"/>
                </a:solidFill>
                <a:latin typeface="Calibri"/>
              </a:rPr>
              <a:t>Where is the Bluetooth-settings deeplink used?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An exact literal string that semantic search dilutes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768096" y="32004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6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841248" y="1325880"/>
            <a:ext cx="33223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1069848" y="1581912"/>
            <a:ext cx="292608" cy="292608"/>
          </a:xfrm>
          <a:prstGeom prst="ellipse">
            <a:avLst/>
          </a:prstGeom>
          <a:solidFill>
            <a:srgbClr val="3B5B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1508760" y="1490472"/>
            <a:ext cx="2499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142B"/>
                </a:solidFill>
                <a:latin typeface="Calibri"/>
              </a:rPr>
              <a:t>Keyword search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508760" y="1929384"/>
            <a:ext cx="249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grep, IDE find, plain BM25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69848" y="2331720"/>
            <a:ext cx="286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E9C8F"/>
                </a:solidFill>
                <a:latin typeface="Calibri"/>
              </a:rPr>
              <a:t>GOOD AT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69848" y="2569464"/>
            <a:ext cx="286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142B"/>
                </a:solidFill>
                <a:latin typeface="Calibri"/>
              </a:rPr>
              <a:t>Exact identifiers, literal strings, fast on CPU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69848" y="3154680"/>
            <a:ext cx="286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28D9"/>
                </a:solidFill>
                <a:latin typeface="Calibri"/>
              </a:rPr>
              <a:t>GAPS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69848" y="3410711"/>
            <a:ext cx="2865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400"/>
              </a:spcAft>
              <a:buClr>
                <a:srgbClr val="6D28D9"/>
              </a:buClr>
              <a:buFont typeface="Arial"/>
              <a:buChar char="●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Misses meaning: “preprocessing” never matches normalize()</a:t>
            </a:r>
          </a:p>
          <a:p>
            <a:pPr marL="201168" indent="-201168">
              <a:spcAft>
                <a:spcPts val="400"/>
              </a:spcAft>
              <a:buClr>
                <a:srgbClr val="6D28D9"/>
              </a:buClr>
              <a:buFont typeface="Arial"/>
              <a:buChar char="●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Cannot express “calls X before Y”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437888" y="1325880"/>
            <a:ext cx="33223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4666488" y="1581912"/>
            <a:ext cx="292608" cy="292608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5105400" y="1490472"/>
            <a:ext cx="2499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142B"/>
                </a:solidFill>
                <a:latin typeface="Calibri"/>
              </a:rPr>
              <a:t>Embedding RAG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105400" y="1929384"/>
            <a:ext cx="249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chunk, embed, nearest neighbours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66488" y="2331720"/>
            <a:ext cx="286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E9C8F"/>
                </a:solidFill>
                <a:latin typeface="Calibri"/>
              </a:rPr>
              <a:t>GOOD AT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666488" y="2569464"/>
            <a:ext cx="286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142B"/>
                </a:solidFill>
                <a:latin typeface="Calibri"/>
              </a:rPr>
              <a:t>Semantic similarity across vocabulary gaps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666488" y="3154680"/>
            <a:ext cx="286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28D9"/>
                </a:solidFill>
                <a:latin typeface="Calibri"/>
              </a:rPr>
              <a:t>GAPS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666488" y="3410711"/>
            <a:ext cx="2865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400"/>
              </a:spcAft>
              <a:buClr>
                <a:srgbClr val="6D28D9"/>
              </a:buClr>
              <a:buFont typeface="Arial"/>
              <a:buChar char="●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Dilutes exact literals like a deeplink string</a:t>
            </a:r>
          </a:p>
          <a:p>
            <a:pPr marL="201168" indent="-201168">
              <a:spcAft>
                <a:spcPts val="400"/>
              </a:spcAft>
              <a:buClr>
                <a:srgbClr val="6D28D9"/>
              </a:buClr>
              <a:buFont typeface="Arial"/>
              <a:buChar char="●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Blind to call graphs and execution order</a:t>
            </a:r>
          </a:p>
          <a:p>
            <a:pPr marL="201168" indent="-201168">
              <a:spcAft>
                <a:spcPts val="400"/>
              </a:spcAft>
              <a:buClr>
                <a:srgbClr val="6D28D9"/>
              </a:buClr>
              <a:buFont typeface="Arial"/>
              <a:buChar char="●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Re-embeds everything when code changes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8034528" y="1325880"/>
            <a:ext cx="33223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/>
          <a:lstStyle/>
          <a:p/>
        </p:txBody>
      </p:sp>
      <p:sp>
        <p:nvSpPr>
          <p:cNvPr id="125" name="Oval 124"/>
          <p:cNvSpPr/>
          <p:nvPr/>
        </p:nvSpPr>
        <p:spPr>
          <a:xfrm>
            <a:off x="8263128" y="1581912"/>
            <a:ext cx="292608" cy="292608"/>
          </a:xfrm>
          <a:prstGeom prst="ellipse">
            <a:avLst/>
          </a:prstGeom>
          <a:solidFill>
            <a:srgbClr val="63637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8702040" y="1490472"/>
            <a:ext cx="2499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4142B"/>
                </a:solidFill>
                <a:latin typeface="Calibri"/>
              </a:rPr>
              <a:t>Long-context LLM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702040" y="1929384"/>
            <a:ext cx="249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paste the repository into a prompt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263128" y="2331720"/>
            <a:ext cx="286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E9C8F"/>
                </a:solidFill>
                <a:latin typeface="Calibri"/>
              </a:rPr>
              <a:t>GOOD AT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263128" y="2569464"/>
            <a:ext cx="286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4142B"/>
                </a:solidFill>
                <a:latin typeface="Calibri"/>
              </a:rPr>
              <a:t>Fluent explanations over small code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263128" y="3154680"/>
            <a:ext cx="286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D28D9"/>
                </a:solidFill>
                <a:latin typeface="Calibri"/>
              </a:rPr>
              <a:t>GAPS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63128" y="3410711"/>
            <a:ext cx="2865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400"/>
              </a:spcAft>
              <a:buClr>
                <a:srgbClr val="6D28D9"/>
              </a:buClr>
              <a:buFont typeface="Arial"/>
              <a:buChar char="●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The codebase does not fit in any context window</a:t>
            </a:r>
          </a:p>
          <a:p>
            <a:pPr marL="201168" indent="-201168">
              <a:spcAft>
                <a:spcPts val="400"/>
              </a:spcAft>
              <a:buClr>
                <a:srgbClr val="6D28D9"/>
              </a:buClr>
              <a:buFont typeface="Arial"/>
              <a:buChar char="●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Needs a GPU or a cloud API; code leaves the machine</a:t>
            </a:r>
          </a:p>
          <a:p>
            <a:pPr marL="201168" indent="-201168">
              <a:spcAft>
                <a:spcPts val="400"/>
              </a:spcAft>
              <a:buClr>
                <a:srgbClr val="6D28D9"/>
              </a:buClr>
              <a:buFont typeface="Arial"/>
              <a:buChar char="●"/>
            </a:pPr>
            <a:r>
              <a:rPr sz="1200" b="0" i="0">
                <a:solidFill>
                  <a:srgbClr val="14142B"/>
                </a:solidFill>
                <a:latin typeface="Calibri"/>
              </a:rPr>
              <a:t>Returns prose, not ranked file:line locations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841248" y="5138928"/>
            <a:ext cx="10515600" cy="1188720"/>
          </a:xfrm>
          <a:prstGeom prst="roundRect">
            <a:avLst>
              <a:gd name="adj" fmla="val 8000"/>
            </a:avLst>
          </a:prstGeom>
          <a:solidFill>
            <a:srgbClr val="F6F4F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1115568" y="5257800"/>
            <a:ext cx="99669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6D28D9"/>
                </a:solidFill>
                <a:latin typeface="Calibri"/>
              </a:rPr>
              <a:t>The gap: </a:t>
            </a:r>
            <a:r>
              <a:rPr sz="1400" b="0" i="0">
                <a:solidFill>
                  <a:srgbClr val="14142B"/>
                </a:solidFill>
                <a:latin typeface="Calibri"/>
              </a:rPr>
              <a:t>no single signal answers all three query types, none preserve call order, and none keep an index fresh across versions without re-embedding everything.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6D28D9"/>
                </a:solidFill>
                <a:latin typeface="Calibri"/>
              </a:rPr>
              <a:t>Axiom’s answer: </a:t>
            </a:r>
            <a:r>
              <a:rPr sz="1400" b="0" i="0">
                <a:solidFill>
                  <a:srgbClr val="14142B"/>
                </a:solidFill>
                <a:latin typeface="Calibri"/>
              </a:rPr>
              <a:t>fuse all three signals, route by query type, and index versions by content hash.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768096" y="32004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6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41248" y="12801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3637E"/>
                </a:solidFill>
                <a:latin typeface="Calibri"/>
              </a:rPr>
              <a:t>ONLINE · PER QUERY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41248" y="22860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14142B"/>
          </a:solidFill>
          <a:ln>
            <a:noFill/>
          </a:ln>
        </p:spPr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Query</a:t>
            </a:r>
          </a:p>
          <a:p>
            <a:pPr algn="ctr"/>
            <a:r>
              <a:rPr sz="1100" b="0" i="0">
                <a:solidFill>
                  <a:srgbClr val="D9D3F0"/>
                </a:solidFill>
                <a:latin typeface="Calibri"/>
              </a:rPr>
              <a:t>natural language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487168" y="228600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4142B"/>
                </a:solidFill>
                <a:latin typeface="Calibri"/>
              </a:rPr>
              <a:t>Classify + plan</a:t>
            </a:r>
          </a:p>
          <a:p>
            <a:pPr algn="ctr"/>
            <a:r>
              <a:rPr sz="1100" b="0" i="0">
                <a:solidFill>
                  <a:srgbClr val="14142B"/>
                </a:solidFill>
                <a:latin typeface="Calibri"/>
              </a:rPr>
              <a:t>type, identifiers, expansion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526280" y="1810512"/>
            <a:ext cx="1874519" cy="548640"/>
          </a:xfrm>
          <a:prstGeom prst="roundRect">
            <a:avLst>
              <a:gd name="adj" fmla="val 8000"/>
            </a:avLst>
          </a:prstGeom>
          <a:solidFill>
            <a:srgbClr val="F6F4FD"/>
          </a:solidFill>
          <a:ln w="12700">
            <a:solidFill>
              <a:srgbClr val="6D28D9"/>
            </a:solidFill>
          </a:ln>
        </p:spPr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4142B"/>
                </a:solidFill>
                <a:latin typeface="Calibri"/>
              </a:rPr>
              <a:t>Dense embeddings</a:t>
            </a:r>
          </a:p>
          <a:p>
            <a:pPr algn="ctr"/>
            <a:r>
              <a:rPr sz="1000" b="0" i="0">
                <a:solidFill>
                  <a:srgbClr val="63637E"/>
                </a:solidFill>
                <a:latin typeface="Calibri"/>
              </a:rPr>
              <a:t>FAISS · meaning</a:t>
            </a:r>
          </a:p>
        </p:txBody>
      </p:sp>
      <p:cxnSp>
        <p:nvCxnSpPr>
          <p:cNvPr id="118" name="Connector 117"/>
          <p:cNvCxnSpPr/>
          <p:nvPr/>
        </p:nvCxnSpPr>
        <p:spPr>
          <a:xfrm flipV="1">
            <a:off x="4087368" y="2084831"/>
            <a:ext cx="438912" cy="658369"/>
          </a:xfrm>
          <a:prstGeom prst="line">
            <a:avLst/>
          </a:prstGeom>
          <a:ln w="1587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400800" y="2084831"/>
            <a:ext cx="411480" cy="658369"/>
          </a:xfrm>
          <a:prstGeom prst="line">
            <a:avLst/>
          </a:prstGeom>
          <a:ln w="1587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ounded Rectangle 119"/>
          <p:cNvSpPr/>
          <p:nvPr/>
        </p:nvSpPr>
        <p:spPr>
          <a:xfrm>
            <a:off x="4526280" y="2468880"/>
            <a:ext cx="1874519" cy="548640"/>
          </a:xfrm>
          <a:prstGeom prst="roundRect">
            <a:avLst>
              <a:gd name="adj" fmla="val 8000"/>
            </a:avLst>
          </a:prstGeom>
          <a:solidFill>
            <a:srgbClr val="ECF0FC"/>
          </a:solidFill>
          <a:ln w="12700">
            <a:solidFill>
              <a:srgbClr val="3B5BD9"/>
            </a:solidFill>
          </a:ln>
        </p:spPr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4142B"/>
                </a:solidFill>
                <a:latin typeface="Calibri"/>
              </a:rPr>
              <a:t>Sparse BM25</a:t>
            </a:r>
          </a:p>
          <a:p>
            <a:pPr algn="ctr"/>
            <a:r>
              <a:rPr sz="1000" b="0" i="0">
                <a:solidFill>
                  <a:srgbClr val="63637E"/>
                </a:solidFill>
                <a:latin typeface="Calibri"/>
              </a:rPr>
              <a:t>bm25s · exact terms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4087368" y="2743200"/>
            <a:ext cx="438912" cy="0"/>
          </a:xfrm>
          <a:prstGeom prst="line">
            <a:avLst/>
          </a:prstGeom>
          <a:ln w="1587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6400800" y="2743200"/>
            <a:ext cx="411480" cy="0"/>
          </a:xfrm>
          <a:prstGeom prst="line">
            <a:avLst/>
          </a:prstGeom>
          <a:ln w="1587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/>
          <p:cNvSpPr/>
          <p:nvPr/>
        </p:nvSpPr>
        <p:spPr>
          <a:xfrm>
            <a:off x="4526280" y="3127248"/>
            <a:ext cx="1874519" cy="548640"/>
          </a:xfrm>
          <a:prstGeom prst="roundRect">
            <a:avLst>
              <a:gd name="adj" fmla="val 8000"/>
            </a:avLst>
          </a:prstGeom>
          <a:solidFill>
            <a:srgbClr val="E8F6F4"/>
          </a:solidFill>
          <a:ln w="12700">
            <a:solidFill>
              <a:srgbClr val="2E9C8F"/>
            </a:solidFill>
          </a:ln>
        </p:spPr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4142B"/>
                </a:solidFill>
                <a:latin typeface="Calibri"/>
              </a:rPr>
              <a:t>Call graph</a:t>
            </a:r>
          </a:p>
          <a:p>
            <a:pPr algn="ctr"/>
            <a:r>
              <a:rPr sz="1000" b="0" i="0">
                <a:solidFill>
                  <a:srgbClr val="63637E"/>
                </a:solidFill>
                <a:latin typeface="Calibri"/>
              </a:rPr>
              <a:t>SQLite · order-aware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4087368" y="2743200"/>
            <a:ext cx="438912" cy="658368"/>
          </a:xfrm>
          <a:prstGeom prst="line">
            <a:avLst/>
          </a:prstGeom>
          <a:ln w="1587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400800" y="2743200"/>
            <a:ext cx="411480" cy="658368"/>
          </a:xfrm>
          <a:prstGeom prst="line">
            <a:avLst/>
          </a:prstGeom>
          <a:ln w="1587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6812280" y="22860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4142B"/>
                </a:solidFill>
                <a:latin typeface="Calibri"/>
              </a:rPr>
              <a:t>Weighted RRF</a:t>
            </a:r>
          </a:p>
          <a:p>
            <a:pPr algn="ctr"/>
            <a:r>
              <a:rPr sz="1100" b="0" i="0">
                <a:solidFill>
                  <a:srgbClr val="14142B"/>
                </a:solidFill>
                <a:latin typeface="Calibri"/>
              </a:rPr>
              <a:t>weights per query type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8503920" y="22860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4142B"/>
                </a:solidFill>
                <a:latin typeface="Calibri"/>
              </a:rPr>
              <a:t>Cross-encoder</a:t>
            </a:r>
          </a:p>
          <a:p>
            <a:pPr algn="ctr"/>
            <a:r>
              <a:rPr sz="1100" b="0" i="0">
                <a:solidFill>
                  <a:srgbClr val="14142B"/>
                </a:solidFill>
                <a:latin typeface="Calibri"/>
              </a:rPr>
              <a:t>rerank top-N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0104120" y="2286000"/>
            <a:ext cx="1252727" cy="91440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</p:spPr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Ranked results</a:t>
            </a:r>
          </a:p>
          <a:p>
            <a:pPr algn="ctr"/>
            <a:r>
              <a:rPr sz="1100" b="0" i="0">
                <a:solidFill>
                  <a:srgbClr val="D9D3F0"/>
                </a:solidFill>
                <a:latin typeface="Calibri"/>
              </a:rPr>
              <a:t>snippet + file:line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2167128" y="2743200"/>
            <a:ext cx="320040" cy="0"/>
          </a:xfrm>
          <a:prstGeom prst="line">
            <a:avLst/>
          </a:prstGeom>
          <a:ln w="1587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138160" y="2743200"/>
            <a:ext cx="365760" cy="0"/>
          </a:xfrm>
          <a:prstGeom prst="line">
            <a:avLst/>
          </a:prstGeom>
          <a:ln w="1587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ounded Rectangle 130"/>
          <p:cNvSpPr/>
          <p:nvPr/>
        </p:nvSpPr>
        <p:spPr>
          <a:xfrm>
            <a:off x="8503920" y="3840480"/>
            <a:ext cx="13258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4142B"/>
                </a:solidFill>
                <a:latin typeface="Calibri"/>
              </a:rPr>
              <a:t>Sufficient?</a:t>
            </a:r>
          </a:p>
          <a:p>
            <a:pPr algn="ctr"/>
            <a:r>
              <a:rPr sz="1000" b="0" i="0">
                <a:solidFill>
                  <a:srgbClr val="63637E"/>
                </a:solidFill>
                <a:latin typeface="Calibri"/>
              </a:rPr>
              <a:t>agent checks scores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9166860" y="3200400"/>
            <a:ext cx="0" cy="640080"/>
          </a:xfrm>
          <a:prstGeom prst="line">
            <a:avLst/>
          </a:prstGeom>
          <a:ln w="1587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9829800" y="4206240"/>
            <a:ext cx="868680" cy="0"/>
          </a:xfrm>
          <a:prstGeom prst="line">
            <a:avLst/>
          </a:prstGeom>
          <a:ln w="15875">
            <a:solidFill>
              <a:srgbClr val="636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0698480" y="3200400"/>
            <a:ext cx="0" cy="1005840"/>
          </a:xfrm>
          <a:prstGeom prst="line">
            <a:avLst/>
          </a:prstGeom>
          <a:ln w="1587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9875520" y="39136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D28D9"/>
                </a:solidFill>
                <a:latin typeface="Calibri"/>
              </a:rPr>
              <a:t>yes</a:t>
            </a:r>
          </a:p>
        </p:txBody>
      </p:sp>
      <p:cxnSp>
        <p:nvCxnSpPr>
          <p:cNvPr id="136" name="Connector 135"/>
          <p:cNvCxnSpPr/>
          <p:nvPr/>
        </p:nvCxnSpPr>
        <p:spPr>
          <a:xfrm flipH="1">
            <a:off x="3287268" y="4206240"/>
            <a:ext cx="5216652" cy="0"/>
          </a:xfrm>
          <a:prstGeom prst="line">
            <a:avLst/>
          </a:prstGeom>
          <a:ln w="15875">
            <a:solidFill>
              <a:srgbClr val="636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287268" y="3200400"/>
            <a:ext cx="0" cy="1005840"/>
          </a:xfrm>
          <a:prstGeom prst="line">
            <a:avLst/>
          </a:prstGeom>
          <a:ln w="1587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3429000" y="4261104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D28D9"/>
                </a:solidFill>
                <a:latin typeface="Calibri"/>
              </a:rPr>
              <a:t>no → refine the query and re-retrieve</a:t>
            </a:r>
            <a:r>
              <a:rPr sz="1200" b="0" i="0">
                <a:solidFill>
                  <a:srgbClr val="63637E"/>
                </a:solidFill>
                <a:latin typeface="Calibri"/>
              </a:rPr>
              <a:t>  ·  at most 2 passes, hard 5 s deadline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41248" y="4937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3637E"/>
                </a:solidFill>
                <a:latin typeface="Calibri"/>
              </a:rPr>
              <a:t>OFFLINE · PER VERSION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41248" y="5257800"/>
            <a:ext cx="2388870" cy="777240"/>
          </a:xfrm>
          <a:prstGeom prst="roundRect">
            <a:avLst>
              <a:gd name="adj" fmla="val 8000"/>
            </a:avLst>
          </a:prstGeom>
          <a:solidFill>
            <a:srgbClr val="F6F4FD"/>
          </a:solidFill>
          <a:ln>
            <a:noFill/>
          </a:ln>
        </p:spPr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4142B"/>
                </a:solidFill>
                <a:latin typeface="Calibri"/>
              </a:rPr>
              <a:t>tree-sitter AST chunks</a:t>
            </a:r>
          </a:p>
          <a:p>
            <a:pPr algn="ctr"/>
            <a:r>
              <a:rPr sz="1100" b="0" i="0">
                <a:solidFill>
                  <a:srgbClr val="63637E"/>
                </a:solidFill>
                <a:latin typeface="Calibri"/>
              </a:rPr>
              <a:t>one function or block each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3550158" y="5257800"/>
            <a:ext cx="2388870" cy="777240"/>
          </a:xfrm>
          <a:prstGeom prst="roundRect">
            <a:avLst>
              <a:gd name="adj" fmla="val 8000"/>
            </a:avLst>
          </a:prstGeom>
          <a:solidFill>
            <a:srgbClr val="F6F4FD"/>
          </a:solidFill>
          <a:ln>
            <a:noFill/>
          </a:ln>
        </p:spPr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4142B"/>
                </a:solidFill>
                <a:latin typeface="Calibri"/>
              </a:rPr>
              <a:t>Content-addressed embeddings</a:t>
            </a:r>
          </a:p>
          <a:p>
            <a:pPr algn="ctr"/>
            <a:r>
              <a:rPr sz="1100" b="0" i="0">
                <a:solidFill>
                  <a:srgbClr val="63637E"/>
                </a:solidFill>
                <a:latin typeface="Calibri"/>
              </a:rPr>
              <a:t>hash → vector, reused across versions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3230118" y="5646420"/>
            <a:ext cx="320040" cy="0"/>
          </a:xfrm>
          <a:prstGeom prst="line">
            <a:avLst/>
          </a:prstGeom>
          <a:ln w="1587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ounded Rectangle 142"/>
          <p:cNvSpPr/>
          <p:nvPr/>
        </p:nvSpPr>
        <p:spPr>
          <a:xfrm>
            <a:off x="6259068" y="5257800"/>
            <a:ext cx="2388870" cy="777240"/>
          </a:xfrm>
          <a:prstGeom prst="roundRect">
            <a:avLst>
              <a:gd name="adj" fmla="val 8000"/>
            </a:avLst>
          </a:prstGeom>
          <a:solidFill>
            <a:srgbClr val="F6F4FD"/>
          </a:solidFill>
          <a:ln>
            <a:noFill/>
          </a:ln>
        </p:spPr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4142B"/>
                </a:solidFill>
                <a:latin typeface="Calibri"/>
              </a:rPr>
              <a:t>Three indexes</a:t>
            </a:r>
          </a:p>
          <a:p>
            <a:pPr algn="ctr"/>
            <a:r>
              <a:rPr sz="1100" b="0" i="0">
                <a:solidFill>
                  <a:srgbClr val="63637E"/>
                </a:solidFill>
                <a:latin typeface="Calibri"/>
              </a:rPr>
              <a:t>FAISS · bm25s · SQLite call graph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5939028" y="5646420"/>
            <a:ext cx="320040" cy="0"/>
          </a:xfrm>
          <a:prstGeom prst="line">
            <a:avLst/>
          </a:prstGeom>
          <a:ln w="1587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ounded Rectangle 144"/>
          <p:cNvSpPr/>
          <p:nvPr/>
        </p:nvSpPr>
        <p:spPr>
          <a:xfrm>
            <a:off x="8967978" y="5257800"/>
            <a:ext cx="2388870" cy="777240"/>
          </a:xfrm>
          <a:prstGeom prst="roundRect">
            <a:avLst>
              <a:gd name="adj" fmla="val 8000"/>
            </a:avLst>
          </a:prstGeom>
          <a:solidFill>
            <a:srgbClr val="F6F4FD"/>
          </a:solidFill>
          <a:ln>
            <a:noFill/>
          </a:ln>
        </p:spPr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4142B"/>
                </a:solidFill>
                <a:latin typeface="Calibri"/>
              </a:rPr>
              <a:t>git-diff reindex + families</a:t>
            </a:r>
          </a:p>
          <a:p>
            <a:pPr algn="ctr"/>
            <a:r>
              <a:rPr sz="1100" b="0" i="0">
                <a:solidFill>
                  <a:srgbClr val="63637E"/>
                </a:solidFill>
                <a:latin typeface="Calibri"/>
              </a:rPr>
              <a:t>only changed files; versions grouped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8647938" y="5646420"/>
            <a:ext cx="320040" cy="0"/>
          </a:xfrm>
          <a:prstGeom prst="line">
            <a:avLst/>
          </a:prstGeom>
          <a:ln w="15875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841248" y="6199632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142B"/>
                </a:solidFill>
                <a:latin typeface="Calibri"/>
              </a:rPr>
              <a:t>The LLM is optional and local. </a:t>
            </a:r>
            <a:r>
              <a:rPr sz="1200" b="0" i="0">
                <a:solidFill>
                  <a:srgbClr val="63637E"/>
                </a:solidFill>
                <a:latin typeface="Calibri"/>
              </a:rPr>
              <a:t>It classifies, expands, decomposes and judges sufficiency. It never reads code; the module boundary enforces that.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768096" y="32004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6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Rounded Rectangle 119"/>
          <p:cNvSpPr/>
          <p:nvPr/>
        </p:nvSpPr>
        <p:spPr>
          <a:xfrm>
            <a:off x="841248" y="1325880"/>
            <a:ext cx="5212080" cy="365760"/>
          </a:xfrm>
          <a:prstGeom prst="roundRect">
            <a:avLst>
              <a:gd name="adj" fmla="val 50000"/>
            </a:avLst>
          </a:prstGeom>
          <a:solidFill>
            <a:srgbClr val="F6F4FD"/>
          </a:solidFill>
          <a:ln w="12700">
            <a:solidFill>
              <a:srgbClr val="6D28D9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6D28D9"/>
                </a:solidFill>
                <a:latin typeface="Calibri"/>
              </a:rPr>
              <a:t>Demo video: youtu.be/QSGzV12PyO4 · Live: axiom-nine-delta.vercel.app</a:t>
            </a:r>
          </a:p>
        </p:txBody>
      </p:sp>
      <p:sp>
        <p:nvSpPr>
          <p:cNvPr id="121" name="Oval 120"/>
          <p:cNvSpPr/>
          <p:nvPr/>
        </p:nvSpPr>
        <p:spPr>
          <a:xfrm>
            <a:off x="841248" y="1920240"/>
            <a:ext cx="420624" cy="42062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1051560" y="2340864"/>
            <a:ext cx="0" cy="310896"/>
          </a:xfrm>
          <a:prstGeom prst="line">
            <a:avLst/>
          </a:prstGeom>
          <a:ln w="25400">
            <a:solidFill>
              <a:srgbClr val="D9D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1435608" y="1901952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42B"/>
                </a:solidFill>
                <a:latin typeface="Calibri"/>
              </a:rPr>
              <a:t>axiom index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435608" y="215798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Builds all three indexes and reports which model rung actually loaded</a:t>
            </a:r>
          </a:p>
        </p:txBody>
      </p:sp>
      <p:sp>
        <p:nvSpPr>
          <p:cNvPr id="125" name="Oval 124"/>
          <p:cNvSpPr/>
          <p:nvPr/>
        </p:nvSpPr>
        <p:spPr>
          <a:xfrm>
            <a:off x="841248" y="2651760"/>
            <a:ext cx="420624" cy="42062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1051560" y="3072384"/>
            <a:ext cx="0" cy="310896"/>
          </a:xfrm>
          <a:prstGeom prst="line">
            <a:avLst/>
          </a:prstGeom>
          <a:ln w="25400">
            <a:solidFill>
              <a:srgbClr val="D9D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1435608" y="2633472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42B"/>
                </a:solidFill>
                <a:latin typeface="Calibri"/>
              </a:rPr>
              <a:t>Q1 · semantic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435608" y="288950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Surfaces preprocessInput in the top 5; the query never names it</a:t>
            </a:r>
          </a:p>
        </p:txBody>
      </p:sp>
      <p:sp>
        <p:nvSpPr>
          <p:cNvPr id="129" name="Oval 128"/>
          <p:cNvSpPr/>
          <p:nvPr/>
        </p:nvSpPr>
        <p:spPr>
          <a:xfrm>
            <a:off x="841248" y="3383280"/>
            <a:ext cx="420624" cy="42062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1051560" y="3803904"/>
            <a:ext cx="0" cy="310896"/>
          </a:xfrm>
          <a:prstGeom prst="line">
            <a:avLst/>
          </a:prstGeom>
          <a:ln w="25400">
            <a:solidFill>
              <a:srgbClr val="D9D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1435608" y="3364992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42B"/>
                </a:solidFill>
                <a:latin typeface="Calibri"/>
              </a:rPr>
              <a:t>Q2 · structural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435608" y="36210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Answers from the call graph, with ordinal evidence for “before”</a:t>
            </a:r>
          </a:p>
        </p:txBody>
      </p:sp>
      <p:sp>
        <p:nvSpPr>
          <p:cNvPr id="133" name="Oval 132"/>
          <p:cNvSpPr/>
          <p:nvPr/>
        </p:nvSpPr>
        <p:spPr>
          <a:xfrm>
            <a:off x="841248" y="4114800"/>
            <a:ext cx="420624" cy="42062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1051560" y="4535424"/>
            <a:ext cx="0" cy="310896"/>
          </a:xfrm>
          <a:prstGeom prst="line">
            <a:avLst/>
          </a:prstGeom>
          <a:ln w="25400">
            <a:solidFill>
              <a:srgbClr val="D9D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1435608" y="4096512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42B"/>
                </a:solidFill>
                <a:latin typeface="Calibri"/>
              </a:rPr>
              <a:t>Q3 · usage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435608" y="435254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An exact deeplink string: BM25 leads and fusion lets it win</a:t>
            </a:r>
          </a:p>
        </p:txBody>
      </p:sp>
      <p:sp>
        <p:nvSpPr>
          <p:cNvPr id="137" name="Oval 136"/>
          <p:cNvSpPr/>
          <p:nvPr/>
        </p:nvSpPr>
        <p:spPr>
          <a:xfrm>
            <a:off x="841248" y="4846320"/>
            <a:ext cx="420624" cy="42062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1051560" y="5266944"/>
            <a:ext cx="0" cy="310896"/>
          </a:xfrm>
          <a:prstGeom prst="line">
            <a:avLst/>
          </a:prstGeom>
          <a:ln w="25400">
            <a:solidFill>
              <a:srgbClr val="D9D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1435608" y="4828032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42B"/>
                </a:solidFill>
                <a:latin typeface="Calibri"/>
              </a:rPr>
              <a:t>axiom reindex v1 → v2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435608" y="50840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Re-embeds only the 50 changed chunks; the other 51 are reused</a:t>
            </a:r>
          </a:p>
        </p:txBody>
      </p:sp>
      <p:sp>
        <p:nvSpPr>
          <p:cNvPr id="141" name="Oval 140"/>
          <p:cNvSpPr/>
          <p:nvPr/>
        </p:nvSpPr>
        <p:spPr>
          <a:xfrm>
            <a:off x="841248" y="5577840"/>
            <a:ext cx="420624" cy="42062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435608" y="5559552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142B"/>
                </a:solidFill>
                <a:latin typeface="Calibri"/>
              </a:rPr>
              <a:t>axiom families · no LLM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35608" y="581558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One function across 3 versions, with diffs; no LLM required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446520" y="1325880"/>
            <a:ext cx="49103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3637E"/>
                </a:solidFill>
                <a:latin typeface="Calibri"/>
              </a:rPr>
              <a:t>REAL OUTPUT · Q2 ON THE BUNDLED TEST REPO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446520" y="1664208"/>
            <a:ext cx="4910328" cy="3246120"/>
          </a:xfrm>
          <a:prstGeom prst="roundRect">
            <a:avLst>
              <a:gd name="adj" fmla="val 4000"/>
            </a:avLst>
          </a:prstGeom>
          <a:solidFill>
            <a:srgbClr val="14142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6675120" y="1664208"/>
            <a:ext cx="4544568" cy="3246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ourier New"/>
              </a:rPr>
              <a:t>$ axiom query "Which files call</a:t>
            </a:r>
          </a:p>
          <a:p>
            <a:pPr algn="l"/>
            <a:r>
              <a:rPr sz="1250" b="0" i="0">
                <a:solidFill>
                  <a:srgbClr val="FFFFFF"/>
                </a:solidFill>
                <a:latin typeface="Courier New"/>
              </a:rPr>
              <a:t>  preprocessInput before resolveTool?"</a:t>
            </a:r>
          </a:p>
          <a:p>
            <a:pPr algn="l"/>
            <a:r>
              <a:rPr sz="1250" b="0" i="0">
                <a:solidFill>
                  <a:srgbClr val="B9B4D6"/>
                </a:solidFill>
                <a:latin typeface="Courier New"/>
              </a:rPr>
              <a:t>type STRUCTURAL · 1 pass (sufficient) · 347 ms</a:t>
            </a:r>
          </a:p>
          <a:p>
            <a:pPr algn="l"/>
            <a:r>
              <a:rPr sz="1250" b="0" i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250" b="1" i="0">
                <a:solidFill>
                  <a:srgbClr val="FFFFFF"/>
                </a:solidFill>
                <a:latin typeface="Courier New"/>
              </a:rPr>
              <a:t>1  src/broken/syntax_error.js:1-11</a:t>
            </a:r>
          </a:p>
          <a:p>
            <a:pPr algn="l"/>
            <a:r>
              <a:rPr sz="1250" b="0" i="0">
                <a:solidFill>
                  <a:srgbClr val="B9B4D6"/>
                </a:solidFill>
                <a:latin typeface="Courier New"/>
              </a:rPr>
              <a:t>   dense #2 · sparse #2 · structural #1</a:t>
            </a:r>
          </a:p>
          <a:p>
            <a:pPr algn="l"/>
            <a:r>
              <a:rPr sz="1250" b="0" i="0">
                <a:solidFill>
                  <a:srgbClr val="D9D3F0"/>
                </a:solidFill>
                <a:latin typeface="Courier New"/>
              </a:rPr>
              <a:t>   calls preprocessInput (ordinal 0)</a:t>
            </a:r>
          </a:p>
          <a:p>
            <a:pPr algn="l"/>
            <a:r>
              <a:rPr sz="1250" b="0" i="0">
                <a:solidFill>
                  <a:srgbClr val="D9D3F0"/>
                </a:solidFill>
                <a:latin typeface="Courier New"/>
              </a:rPr>
              <a:t>   before resolveTool (ordinal 1)</a:t>
            </a:r>
          </a:p>
          <a:p>
            <a:pPr algn="l"/>
            <a:r>
              <a:rPr sz="1250" b="1" i="0">
                <a:solidFill>
                  <a:srgbClr val="FFFFFF"/>
                </a:solidFill>
                <a:latin typeface="Courier New"/>
              </a:rPr>
              <a:t>2  src/tools/registry.js:8-15  dispatch</a:t>
            </a:r>
          </a:p>
          <a:p>
            <a:pPr algn="l"/>
            <a:r>
              <a:rPr sz="1250" b="0" i="0">
                <a:solidFill>
                  <a:srgbClr val="B9B4D6"/>
                </a:solidFill>
                <a:latin typeface="Courier New"/>
              </a:rPr>
              <a:t>   dense #1 · sparse #1 · structural #2</a:t>
            </a:r>
          </a:p>
          <a:p>
            <a:pPr algn="l"/>
            <a:r>
              <a:rPr sz="1250" b="0" i="0">
                <a:solidFill>
                  <a:srgbClr val="D9D3F0"/>
                </a:solidFill>
                <a:latin typeface="Courier New"/>
              </a:rPr>
              <a:t>   calls preprocessInput (ordinal 0)</a:t>
            </a:r>
          </a:p>
          <a:p>
            <a:pPr algn="l"/>
            <a:r>
              <a:rPr sz="1250" b="0" i="0">
                <a:solidFill>
                  <a:srgbClr val="D9D3F0"/>
                </a:solidFill>
                <a:latin typeface="Courier New"/>
              </a:rPr>
              <a:t>   before resolveTool (ordinal 1)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446520" y="5047488"/>
            <a:ext cx="4910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Run on a bare install with no models downloaded: the hashing fallback embedder, and still the right answer, because the ordering comes from the call graph.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6446520" y="5715000"/>
            <a:ext cx="11430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14142B"/>
                </a:solidFill>
                <a:latin typeface="Calibri"/>
              </a:rPr>
              <a:t>Typer CLI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772400" y="5715000"/>
            <a:ext cx="1874519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14142B"/>
                </a:solidFill>
                <a:latin typeface="Calibri"/>
              </a:rPr>
              <a:t>REST API · 5 endpoints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829800" y="571500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14142B"/>
                </a:solidFill>
                <a:latin typeface="Calibri"/>
              </a:rPr>
              <a:t>Streamlit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768096" y="32004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6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841248" y="1417320"/>
            <a:ext cx="3322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/>
          <a:lstStyle/>
          <a:p/>
        </p:txBody>
      </p:sp>
      <p:sp>
        <p:nvSpPr>
          <p:cNvPr id="127" name="Oval 126"/>
          <p:cNvSpPr/>
          <p:nvPr/>
        </p:nvSpPr>
        <p:spPr>
          <a:xfrm>
            <a:off x="1069848" y="1691640"/>
            <a:ext cx="274320" cy="27432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1490472" y="1600200"/>
            <a:ext cx="259079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Retrieval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97280" y="2194560"/>
            <a:ext cx="28651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  <a:buClr>
                <a:srgbClr val="6D28D9"/>
              </a:buClr>
              <a:buFont typeface="Arial"/>
              <a:buChar char="●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FAISS CPU (flat IP, IVF-PQ at scale)</a:t>
            </a:r>
          </a:p>
          <a:p>
            <a:pPr marL="201168" indent="-201168">
              <a:spcAft>
                <a:spcPts val="800"/>
              </a:spcAft>
              <a:buClr>
                <a:srgbClr val="6D28D9"/>
              </a:buClr>
              <a:buFont typeface="Arial"/>
              <a:buChar char="●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bm25s, with a pure-Python fallback</a:t>
            </a:r>
          </a:p>
          <a:p>
            <a:pPr marL="201168" indent="-201168">
              <a:spcAft>
                <a:spcPts val="800"/>
              </a:spcAft>
              <a:buClr>
                <a:srgbClr val="6D28D9"/>
              </a:buClr>
              <a:buFont typeface="Arial"/>
              <a:buChar char="●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Weighted Reciprocal Rank Fusion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4437888" y="1417320"/>
            <a:ext cx="3322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/>
          <a:lstStyle/>
          <a:p/>
        </p:txBody>
      </p:sp>
      <p:sp>
        <p:nvSpPr>
          <p:cNvPr id="131" name="Oval 130"/>
          <p:cNvSpPr/>
          <p:nvPr/>
        </p:nvSpPr>
        <p:spPr>
          <a:xfrm>
            <a:off x="4666488" y="1691640"/>
            <a:ext cx="274320" cy="274320"/>
          </a:xfrm>
          <a:prstGeom prst="ellipse">
            <a:avLst/>
          </a:prstGeom>
          <a:solidFill>
            <a:srgbClr val="3B5B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5087112" y="1600200"/>
            <a:ext cx="259079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Models · CPU, INT8 ONNX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693920" y="2194560"/>
            <a:ext cx="28651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  <a:buClr>
                <a:srgbClr val="3B5BD9"/>
              </a:buClr>
              <a:buFont typeface="Arial"/>
              <a:buChar char="●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Qwen3-Embedding-0.6B (primary)</a:t>
            </a:r>
          </a:p>
          <a:p>
            <a:pPr marL="201168" indent="-201168">
              <a:spcAft>
                <a:spcPts val="800"/>
              </a:spcAft>
              <a:buClr>
                <a:srgbClr val="3B5BD9"/>
              </a:buClr>
              <a:buFont typeface="Arial"/>
              <a:buChar char="●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all-MiniLM-L6-v2 (fallback, measured)</a:t>
            </a:r>
          </a:p>
          <a:p>
            <a:pPr marL="201168" indent="-201168">
              <a:spcAft>
                <a:spcPts val="800"/>
              </a:spcAft>
              <a:buClr>
                <a:srgbClr val="3B5BD9"/>
              </a:buClr>
              <a:buFont typeface="Arial"/>
              <a:buChar char="●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ms-marco / bge-reranker cross-encoders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8034528" y="1417320"/>
            <a:ext cx="3322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/>
          <a:lstStyle/>
          <a:p/>
        </p:txBody>
      </p:sp>
      <p:sp>
        <p:nvSpPr>
          <p:cNvPr id="135" name="Oval 134"/>
          <p:cNvSpPr/>
          <p:nvPr/>
        </p:nvSpPr>
        <p:spPr>
          <a:xfrm>
            <a:off x="8263128" y="1691640"/>
            <a:ext cx="274320" cy="274320"/>
          </a:xfrm>
          <a:prstGeom prst="ellipse">
            <a:avLst/>
          </a:prstGeom>
          <a:solidFill>
            <a:srgbClr val="2E9C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8683752" y="1600200"/>
            <a:ext cx="259079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Code structure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290560" y="2194560"/>
            <a:ext cx="28651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  <a:buClr>
                <a:srgbClr val="2E9C8F"/>
              </a:buClr>
              <a:buFont typeface="Arial"/>
              <a:buChar char="●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tree-sitter + JavaScript grammar</a:t>
            </a:r>
          </a:p>
          <a:p>
            <a:pPr marL="201168" indent="-201168">
              <a:spcAft>
                <a:spcPts val="800"/>
              </a:spcAft>
              <a:buClr>
                <a:srgbClr val="2E9C8F"/>
              </a:buClr>
              <a:buFont typeface="Arial"/>
              <a:buChar char="●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SQLite call, import and export graph</a:t>
            </a:r>
          </a:p>
          <a:p>
            <a:pPr marL="201168" indent="-201168">
              <a:spcAft>
                <a:spcPts val="800"/>
              </a:spcAft>
              <a:buClr>
                <a:srgbClr val="2E9C8F"/>
              </a:buClr>
              <a:buFont typeface="Arial"/>
              <a:buChar char="●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Regex chunker as the fallback rung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41248" y="3931920"/>
            <a:ext cx="3322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/>
          <a:lstStyle/>
          <a:p/>
        </p:txBody>
      </p:sp>
      <p:sp>
        <p:nvSpPr>
          <p:cNvPr id="139" name="Oval 138"/>
          <p:cNvSpPr/>
          <p:nvPr/>
        </p:nvSpPr>
        <p:spPr>
          <a:xfrm>
            <a:off x="1069848" y="4206240"/>
            <a:ext cx="274320" cy="27432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1490472" y="4114800"/>
            <a:ext cx="259079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Agent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97280" y="4709159"/>
            <a:ext cx="28651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  <a:buClr>
                <a:srgbClr val="6D28D9"/>
              </a:buClr>
              <a:buFont typeface="Arial"/>
              <a:buChar char="●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Custom bounded loop, no framework</a:t>
            </a:r>
          </a:p>
          <a:p>
            <a:pPr marL="201168" indent="-201168">
              <a:spcAft>
                <a:spcPts val="800"/>
              </a:spcAft>
              <a:buClr>
                <a:srgbClr val="6D28D9"/>
              </a:buClr>
              <a:buFont typeface="Arial"/>
              <a:buChar char="●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Heuristic rule engine by default</a:t>
            </a:r>
          </a:p>
          <a:p>
            <a:pPr marL="201168" indent="-201168">
              <a:spcAft>
                <a:spcPts val="800"/>
              </a:spcAft>
              <a:buClr>
                <a:srgbClr val="6D28D9"/>
              </a:buClr>
              <a:buFont typeface="Arial"/>
              <a:buChar char="●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Optional local Qwen2.5-1.5B (GGUF); never a third-party API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437888" y="3931920"/>
            <a:ext cx="3322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/>
          <a:lstStyle/>
          <a:p/>
        </p:txBody>
      </p:sp>
      <p:sp>
        <p:nvSpPr>
          <p:cNvPr id="143" name="Oval 142"/>
          <p:cNvSpPr/>
          <p:nvPr/>
        </p:nvSpPr>
        <p:spPr>
          <a:xfrm>
            <a:off x="4666488" y="4206240"/>
            <a:ext cx="274320" cy="274320"/>
          </a:xfrm>
          <a:prstGeom prst="ellipse">
            <a:avLst/>
          </a:prstGeom>
          <a:solidFill>
            <a:srgbClr val="3B5B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4" name="TextBox 143"/>
          <p:cNvSpPr txBox="1"/>
          <p:nvPr/>
        </p:nvSpPr>
        <p:spPr>
          <a:xfrm>
            <a:off x="5087112" y="4114800"/>
            <a:ext cx="259079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Versions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693920" y="4709159"/>
            <a:ext cx="28651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  <a:buClr>
                <a:srgbClr val="3B5BD9"/>
              </a:buClr>
              <a:buFont typeface="Arial"/>
              <a:buChar char="●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git diff --name-status, git worktree</a:t>
            </a:r>
          </a:p>
          <a:p>
            <a:pPr marL="201168" indent="-201168">
              <a:spcAft>
                <a:spcPts val="800"/>
              </a:spcAft>
              <a:buClr>
                <a:srgbClr val="3B5BD9"/>
              </a:buClr>
              <a:buFont typeface="Arial"/>
              <a:buChar char="●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Content-addressed embedding blobs</a:t>
            </a:r>
          </a:p>
          <a:p>
            <a:pPr marL="201168" indent="-201168">
              <a:spcAft>
                <a:spcPts val="800"/>
              </a:spcAft>
              <a:buClr>
                <a:srgbClr val="3B5BD9"/>
              </a:buClr>
              <a:buFont typeface="Arial"/>
              <a:buChar char="●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Snippet families at cosine ≥ 0.95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034528" y="3931920"/>
            <a:ext cx="3322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/>
          <a:lstStyle/>
          <a:p/>
        </p:txBody>
      </p:sp>
      <p:sp>
        <p:nvSpPr>
          <p:cNvPr id="147" name="Oval 146"/>
          <p:cNvSpPr/>
          <p:nvPr/>
        </p:nvSpPr>
        <p:spPr>
          <a:xfrm>
            <a:off x="8263128" y="4206240"/>
            <a:ext cx="274320" cy="274320"/>
          </a:xfrm>
          <a:prstGeom prst="ellipse">
            <a:avLst/>
          </a:prstGeom>
          <a:solidFill>
            <a:srgbClr val="2E9C8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8683752" y="4114800"/>
            <a:ext cx="259079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Surfaces &amp; quality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290560" y="4709159"/>
            <a:ext cx="28651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  <a:buClr>
                <a:srgbClr val="2E9C8F"/>
              </a:buClr>
              <a:buFont typeface="Arial"/>
              <a:buChar char="●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Python 3.11 · uv · Pydantic v2 contract</a:t>
            </a:r>
          </a:p>
          <a:p>
            <a:pPr marL="201168" indent="-201168">
              <a:spcAft>
                <a:spcPts val="800"/>
              </a:spcAft>
              <a:buClr>
                <a:srgbClr val="2E9C8F"/>
              </a:buClr>
              <a:buFont typeface="Arial"/>
              <a:buChar char="●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Typer CLI · FastAPI · Streamlit</a:t>
            </a:r>
          </a:p>
          <a:p>
            <a:pPr marL="201168" indent="-201168">
              <a:spcAft>
                <a:spcPts val="800"/>
              </a:spcAft>
              <a:buClr>
                <a:srgbClr val="2E9C8F"/>
              </a:buClr>
              <a:buFont typeface="Arial"/>
              <a:buChar char="●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MTEB / CoIR eval · pytest, 650+ tests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768096" y="32004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6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841248" y="1325880"/>
            <a:ext cx="6675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42B"/>
                </a:solidFill>
                <a:latin typeface="Calibri"/>
              </a:rPr>
              <a:t>For developers on large JavaScript voice-assistant codebases: </a:t>
            </a:r>
            <a:r>
              <a:rPr sz="1500" b="0" i="0">
                <a:solidFill>
                  <a:srgbClr val="63637E"/>
                </a:solidFill>
                <a:latin typeface="Calibri"/>
              </a:rPr>
              <a:t>dozens of agents and tools, deep directory trees, frequent releases.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41248" y="2103120"/>
            <a:ext cx="3200400" cy="1920240"/>
          </a:xfrm>
          <a:prstGeom prst="roundRect">
            <a:avLst>
              <a:gd name="adj" fmla="val 8000"/>
            </a:avLst>
          </a:prstGeom>
          <a:solidFill>
            <a:srgbClr val="F6F4F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4" name="Oval 133"/>
          <p:cNvSpPr/>
          <p:nvPr/>
        </p:nvSpPr>
        <p:spPr>
          <a:xfrm>
            <a:off x="1069848" y="2377439"/>
            <a:ext cx="274320" cy="27432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1490472" y="2285999"/>
            <a:ext cx="2423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Onboarding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69848" y="278892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“How is the input normalised before the main handler?” Answered with locations, not guesses.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315968" y="2103120"/>
            <a:ext cx="3200400" cy="1920240"/>
          </a:xfrm>
          <a:prstGeom prst="roundRect">
            <a:avLst>
              <a:gd name="adj" fmla="val 8000"/>
            </a:avLst>
          </a:prstGeom>
          <a:solidFill>
            <a:srgbClr val="F6F4F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8" name="Oval 137"/>
          <p:cNvSpPr/>
          <p:nvPr/>
        </p:nvSpPr>
        <p:spPr>
          <a:xfrm>
            <a:off x="4544568" y="2377439"/>
            <a:ext cx="274320" cy="27432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4965192" y="2285999"/>
            <a:ext cx="2423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Change impact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544568" y="2788920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“Which handlers call parseIntent before resolveTool?” Answered before a refactor breaks the order.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841248" y="4297679"/>
            <a:ext cx="3200400" cy="1920240"/>
          </a:xfrm>
          <a:prstGeom prst="roundRect">
            <a:avLst>
              <a:gd name="adj" fmla="val 8000"/>
            </a:avLst>
          </a:prstGeom>
          <a:solidFill>
            <a:srgbClr val="F6F4F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2" name="Oval 141"/>
          <p:cNvSpPr/>
          <p:nvPr/>
        </p:nvSpPr>
        <p:spPr>
          <a:xfrm>
            <a:off x="1069848" y="4571999"/>
            <a:ext cx="274320" cy="27432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1490472" y="4480559"/>
            <a:ext cx="2423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Release review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69848" y="4983479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The same function across versions, collapsed into one result with its diffs.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315968" y="4297679"/>
            <a:ext cx="3200400" cy="1920240"/>
          </a:xfrm>
          <a:prstGeom prst="roundRect">
            <a:avLst>
              <a:gd name="adj" fmla="val 8000"/>
            </a:avLst>
          </a:prstGeom>
          <a:solidFill>
            <a:srgbClr val="F6F4F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6" name="Oval 145"/>
          <p:cNvSpPr/>
          <p:nvPr/>
        </p:nvSpPr>
        <p:spPr>
          <a:xfrm>
            <a:off x="4544568" y="4571999"/>
            <a:ext cx="274320" cy="27432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4965192" y="4480559"/>
            <a:ext cx="2423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String &amp; config audits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544568" y="4983479"/>
            <a:ext cx="2743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“Where is the Bluetooth-settings deeplink used?” Every literal usage, exactly.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001000" y="2103120"/>
            <a:ext cx="33558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6D28D9"/>
                </a:solidFill>
                <a:latin typeface="Calibri"/>
              </a:rPr>
              <a:t>50 of 101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001000" y="2788920"/>
            <a:ext cx="3355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chunks re-embedded for a 50-file diff; every unchanged chunk is reused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001000" y="3566160"/>
            <a:ext cx="33558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6D28D9"/>
                </a:solidFill>
                <a:latin typeface="Calibri"/>
              </a:rPr>
              <a:t>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001000" y="4251960"/>
            <a:ext cx="3355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embedding calls for renamed, moved or reverted code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001000" y="5029200"/>
            <a:ext cx="3355848" cy="64008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6D28D9"/>
                </a:solidFill>
                <a:latin typeface="Calibri"/>
              </a:rPr>
              <a:t>100% local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001000" y="5715000"/>
            <a:ext cx="3355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CPU-only. No GPU, and no code ever leaves the machine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768096" y="32004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6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841248" y="132588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D28D9"/>
                </a:solidFill>
                <a:latin typeface="Calibri"/>
              </a:rPr>
              <a:t>INNOVATION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224528" y="1325880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9C8F"/>
                </a:solidFill>
                <a:latin typeface="Calibri"/>
              </a:rPr>
              <a:t>RESULTS · MEASURED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705088" y="132588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3637E"/>
                </a:solidFill>
                <a:latin typeface="Calibri"/>
              </a:rPr>
              <a:t>LIMITATIONS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41248" y="1691640"/>
            <a:ext cx="30632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1600"/>
              </a:spcAft>
              <a:buClr>
                <a:srgbClr val="6D28D9"/>
              </a:buClr>
              <a:buFont typeface="Arial"/>
              <a:buChar char="●"/>
            </a:pPr>
            <a:r>
              <a:rPr sz="1450" b="1" i="0">
                <a:solidFill>
                  <a:srgbClr val="14142B"/>
                </a:solidFill>
                <a:latin typeface="Calibri"/>
              </a:rPr>
              <a:t>Order-aware call graph: </a:t>
            </a:r>
            <a:r>
              <a:rPr sz="1450" b="0" i="0">
                <a:solidFill>
                  <a:srgbClr val="14142B"/>
                </a:solidFill>
                <a:latin typeface="Calibri"/>
              </a:rPr>
              <a:t>answers “X before Y” from source order</a:t>
            </a:r>
          </a:p>
          <a:p>
            <a:pPr marL="201168" indent="-201168">
              <a:spcAft>
                <a:spcPts val="1600"/>
              </a:spcAft>
              <a:buClr>
                <a:srgbClr val="6D28D9"/>
              </a:buClr>
              <a:buFont typeface="Arial"/>
              <a:buChar char="●"/>
            </a:pPr>
            <a:r>
              <a:rPr sz="1450" b="1" i="0">
                <a:solidFill>
                  <a:srgbClr val="14142B"/>
                </a:solidFill>
                <a:latin typeface="Calibri"/>
              </a:rPr>
              <a:t>Per-query-type fusion: </a:t>
            </a:r>
            <a:r>
              <a:rPr sz="1450" b="0" i="0">
                <a:solidFill>
                  <a:srgbClr val="14142B"/>
                </a:solidFill>
                <a:latin typeface="Calibri"/>
              </a:rPr>
              <a:t>the classifier sets the signal weights</a:t>
            </a:r>
          </a:p>
          <a:p>
            <a:pPr marL="201168" indent="-201168">
              <a:spcAft>
                <a:spcPts val="1600"/>
              </a:spcAft>
              <a:buClr>
                <a:srgbClr val="6D28D9"/>
              </a:buClr>
              <a:buFont typeface="Arial"/>
              <a:buChar char="●"/>
            </a:pPr>
            <a:r>
              <a:rPr sz="1450" b="1" i="0">
                <a:solidFill>
                  <a:srgbClr val="14142B"/>
                </a:solidFill>
                <a:latin typeface="Calibri"/>
              </a:rPr>
              <a:t>Bounded agent: </a:t>
            </a:r>
            <a:r>
              <a:rPr sz="1450" b="0" i="0">
                <a:solidFill>
                  <a:srgbClr val="14142B"/>
                </a:solidFill>
                <a:latin typeface="Calibri"/>
              </a:rPr>
              <a:t>≤ 2 passes, 5 s deadline; the LLM never reads code</a:t>
            </a:r>
          </a:p>
          <a:p>
            <a:pPr marL="201168" indent="-201168">
              <a:spcAft>
                <a:spcPts val="1600"/>
              </a:spcAft>
              <a:buClr>
                <a:srgbClr val="6D28D9"/>
              </a:buClr>
              <a:buFont typeface="Arial"/>
              <a:buChar char="●"/>
            </a:pPr>
            <a:r>
              <a:rPr sz="1450" b="1" i="0">
                <a:solidFill>
                  <a:srgbClr val="14142B"/>
                </a:solidFill>
                <a:latin typeface="Calibri"/>
              </a:rPr>
              <a:t>Content-addressed versions: </a:t>
            </a:r>
            <a:r>
              <a:rPr sz="1450" b="0" i="0">
                <a:solidFill>
                  <a:srgbClr val="14142B"/>
                </a:solidFill>
                <a:latin typeface="Calibri"/>
              </a:rPr>
              <a:t>renames and unchanged files cost nothing</a:t>
            </a:r>
          </a:p>
        </p:txBody>
      </p:sp>
      <p:graphicFrame>
        <p:nvGraphicFramePr>
          <p:cNvPr id="142" name="Table 141"/>
          <p:cNvGraphicFramePr>
            <a:graphicFrameLocks noGrp="1"/>
          </p:cNvGraphicFramePr>
          <p:nvPr/>
        </p:nvGraphicFramePr>
        <p:xfrm>
          <a:off x="4224528" y="1691640"/>
          <a:ext cx="416051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68680"/>
                <a:gridCol w="822960"/>
                <a:gridCol w="109727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Arm</a:t>
                      </a:r>
                    </a:p>
                  </a:txBody>
                  <a:tcPr marL="73152" marR="73152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NDCG@10</a:t>
                      </a:r>
                    </a:p>
                  </a:txBody>
                  <a:tcPr marL="73152" marR="73152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MRR@10</a:t>
                      </a:r>
                    </a:p>
                  </a:txBody>
                  <a:tcPr marL="73152" marR="73152"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Recall@100</a:t>
                      </a:r>
                    </a:p>
                  </a:txBody>
                  <a:tcPr marL="73152" marR="73152">
                    <a:solidFill>
                      <a:srgbClr val="6D28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4142B"/>
                          </a:solidFill>
                          <a:latin typeface="Calibri"/>
                        </a:rPr>
                        <a:t>BM25 only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4142B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414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4142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4142B"/>
                          </a:solidFill>
                          <a:latin typeface="Calibri"/>
                        </a:rPr>
                        <a:t>Dense only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4142B"/>
                          </a:solidFill>
                          <a:latin typeface="Calibri"/>
                        </a:rPr>
                        <a:t>7.59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4142B"/>
                          </a:solidFill>
                          <a:latin typeface="Calibri"/>
                        </a:rPr>
                        <a:t>6.39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4142B"/>
                          </a:solidFill>
                          <a:latin typeface="Calibri"/>
                        </a:rPr>
                        <a:t>27.22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4142B"/>
                          </a:solidFill>
                          <a:latin typeface="Calibri"/>
                        </a:rPr>
                        <a:t>Hybrid RRF</a:t>
                      </a:r>
                    </a:p>
                  </a:txBody>
                  <a:tcPr marL="73152" marR="73152">
                    <a:solidFill>
                      <a:srgbClr val="F6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14142B"/>
                          </a:solidFill>
                          <a:latin typeface="Calibri"/>
                        </a:rPr>
                        <a:t>7.78</a:t>
                      </a:r>
                    </a:p>
                  </a:txBody>
                  <a:tcPr marL="73152" marR="73152">
                    <a:solidFill>
                      <a:srgbClr val="F6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14142B"/>
                          </a:solidFill>
                          <a:latin typeface="Calibri"/>
                        </a:rPr>
                        <a:t>6.60</a:t>
                      </a:r>
                    </a:p>
                  </a:txBody>
                  <a:tcPr marL="73152" marR="73152">
                    <a:solidFill>
                      <a:srgbClr val="F6F4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14142B"/>
                          </a:solidFill>
                          <a:latin typeface="Calibri"/>
                        </a:rPr>
                        <a:t>27.17</a:t>
                      </a:r>
                    </a:p>
                  </a:txBody>
                  <a:tcPr marL="73152" marR="73152">
                    <a:solidFill>
                      <a:srgbClr val="F6F4FD"/>
                    </a:solidFill>
                  </a:tcPr>
                </a:tc>
              </a:tr>
            </a:tbl>
          </a:graphicData>
        </a:graphic>
      </p:graphicFrame>
      <p:sp>
        <p:nvSpPr>
          <p:cNvPr id="143" name="TextBox 142"/>
          <p:cNvSpPr txBox="1"/>
          <p:nvPr/>
        </p:nvSpPr>
        <p:spPr>
          <a:xfrm>
            <a:off x="4224528" y="3630168"/>
            <a:ext cx="4160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CoIR AppsRetrieval, full test split: 3,765 queries, 8,765 docs. 22M-param MiniLM fallback embedder; reranker not in the scored run.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224528" y="4434840"/>
            <a:ext cx="1295400" cy="1097280"/>
          </a:xfrm>
          <a:prstGeom prst="roundRect">
            <a:avLst>
              <a:gd name="adj" fmla="val 8000"/>
            </a:avLst>
          </a:prstGeom>
          <a:solidFill>
            <a:srgbClr val="F6F4F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4224528" y="4544568"/>
            <a:ext cx="1295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6D28D9"/>
                </a:solidFill>
                <a:latin typeface="Calibri"/>
              </a:rPr>
              <a:t>50 / 101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224528" y="5074920"/>
            <a:ext cx="1295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3637E"/>
                </a:solidFill>
                <a:latin typeface="Calibri"/>
              </a:rPr>
              <a:t>chunks re-embedded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657088" y="4434840"/>
            <a:ext cx="1295400" cy="1097280"/>
          </a:xfrm>
          <a:prstGeom prst="roundRect">
            <a:avLst>
              <a:gd name="adj" fmla="val 8000"/>
            </a:avLst>
          </a:prstGeom>
          <a:solidFill>
            <a:srgbClr val="F6F4F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5657088" y="4544568"/>
            <a:ext cx="1295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6D28D9"/>
                </a:solidFill>
                <a:latin typeface="Calibri"/>
              </a:rPr>
              <a:t>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657088" y="5074920"/>
            <a:ext cx="1295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3637E"/>
                </a:solidFill>
                <a:latin typeface="Calibri"/>
              </a:rPr>
              <a:t>calls for known code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7089648" y="4434840"/>
            <a:ext cx="1295400" cy="1097280"/>
          </a:xfrm>
          <a:prstGeom prst="roundRect">
            <a:avLst>
              <a:gd name="adj" fmla="val 8000"/>
            </a:avLst>
          </a:prstGeom>
          <a:solidFill>
            <a:srgbClr val="F6F4F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7089648" y="4544568"/>
            <a:ext cx="1295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6D28D9"/>
                </a:solidFill>
                <a:latin typeface="Calibri"/>
              </a:rPr>
              <a:t>109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089648" y="5074920"/>
            <a:ext cx="1295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3637E"/>
                </a:solidFill>
                <a:latin typeface="Calibri"/>
              </a:rPr>
              <a:t>snippet families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224528" y="5715000"/>
            <a:ext cx="4160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142B"/>
                </a:solidFill>
                <a:latin typeface="Calibri"/>
              </a:rPr>
              <a:t>Takeaway: </a:t>
            </a:r>
            <a:r>
              <a:rPr sz="1200" b="0" i="0">
                <a:solidFill>
                  <a:srgbClr val="63637E"/>
                </a:solidFill>
                <a:latin typeface="Calibri"/>
              </a:rPr>
              <a:t>recall, not ranking, is the ceiling. About three-quarters of relevant documents never enter the candidate pool, so the lever is a stronger first-stage embedder.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705088" y="1691640"/>
            <a:ext cx="26517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1600"/>
              </a:spcAft>
              <a:buClr>
                <a:srgbClr val="63637E"/>
              </a:buClr>
              <a:buFont typeface="Arial"/>
              <a:buChar char="●"/>
            </a:pPr>
            <a:r>
              <a:rPr sz="1450" b="1" i="0">
                <a:solidFill>
                  <a:srgbClr val="14142B"/>
                </a:solidFill>
                <a:latin typeface="Calibri"/>
              </a:rPr>
              <a:t>Recall@100 is 27.2. </a:t>
            </a:r>
            <a:r>
              <a:rPr sz="1450" b="0" i="0">
                <a:solidFill>
                  <a:srgbClr val="14142B"/>
                </a:solidFill>
                <a:latin typeface="Calibri"/>
              </a:rPr>
              <a:t>The 0.6B primary embedder is not yet exported to ONNX</a:t>
            </a:r>
          </a:p>
          <a:p>
            <a:pPr marL="201168" indent="-201168">
              <a:spcAft>
                <a:spcPts val="1600"/>
              </a:spcAft>
              <a:buClr>
                <a:srgbClr val="63637E"/>
              </a:buClr>
              <a:buFont typeface="Arial"/>
              <a:buChar char="●"/>
            </a:pPr>
            <a:r>
              <a:rPr sz="1450" b="1" i="0">
                <a:solidFill>
                  <a:srgbClr val="14142B"/>
                </a:solidFill>
                <a:latin typeface="Calibri"/>
              </a:rPr>
              <a:t>Agent refinement is a wash: </a:t>
            </a:r>
            <a:r>
              <a:rPr sz="1450" b="0" i="0">
                <a:solidFill>
                  <a:srgbClr val="14142B"/>
                </a:solidFill>
                <a:latin typeface="Calibri"/>
              </a:rPr>
              <a:t>25 queries helped, 26 hurt out of 592 (ΔNDCG −0.04)</a:t>
            </a:r>
          </a:p>
          <a:p>
            <a:pPr marL="201168" indent="-201168">
              <a:spcAft>
                <a:spcPts val="1600"/>
              </a:spcAft>
              <a:buClr>
                <a:srgbClr val="63637E"/>
              </a:buClr>
              <a:buFont typeface="Arial"/>
              <a:buChar char="●"/>
            </a:pPr>
            <a:r>
              <a:rPr sz="1450" b="1" i="0">
                <a:solidFill>
                  <a:srgbClr val="14142B"/>
                </a:solidFill>
                <a:latin typeface="Calibri"/>
              </a:rPr>
              <a:t>Regex fallback chunker </a:t>
            </a:r>
            <a:r>
              <a:rPr sz="1450" b="0" i="0">
                <a:solidFill>
                  <a:srgbClr val="14142B"/>
                </a:solidFill>
                <a:latin typeface="Calibri"/>
              </a:rPr>
              <a:t>can misattribute calls when tree-sitter is absent</a:t>
            </a:r>
          </a:p>
          <a:p>
            <a:pPr marL="201168" indent="-201168">
              <a:spcAft>
                <a:spcPts val="1600"/>
              </a:spcAft>
              <a:buClr>
                <a:srgbClr val="63637E"/>
              </a:buClr>
              <a:buFont typeface="Arial"/>
              <a:buChar char="●"/>
            </a:pPr>
            <a:r>
              <a:rPr sz="1450" b="1" i="0">
                <a:solidFill>
                  <a:srgbClr val="14142B"/>
                </a:solidFill>
                <a:latin typeface="Calibri"/>
              </a:rPr>
              <a:t>JavaScript only, </a:t>
            </a:r>
            <a:r>
              <a:rPr sz="1450" b="0" i="0">
                <a:solidFill>
                  <a:srgbClr val="14142B"/>
                </a:solidFill>
                <a:latin typeface="Calibri"/>
              </a:rPr>
              <a:t>and no reportable score for the full reranked pipeline yet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768096" y="32004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6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cxnSp>
        <p:nvCxnSpPr>
          <p:cNvPr id="144" name="Connector 143"/>
          <p:cNvCxnSpPr/>
          <p:nvPr/>
        </p:nvCxnSpPr>
        <p:spPr>
          <a:xfrm>
            <a:off x="1801368" y="2057400"/>
            <a:ext cx="8595360" cy="0"/>
          </a:xfrm>
          <a:prstGeom prst="line">
            <a:avLst/>
          </a:prstGeom>
          <a:ln w="31750">
            <a:solidFill>
              <a:srgbClr val="D9D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Oval 144"/>
          <p:cNvSpPr/>
          <p:nvPr/>
        </p:nvSpPr>
        <p:spPr>
          <a:xfrm>
            <a:off x="1481328" y="173736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41248" y="2743200"/>
            <a:ext cx="19202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D28D9"/>
            </a:solidFill>
          </a:ln>
        </p:spPr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1005840" y="2852928"/>
            <a:ext cx="15910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42B"/>
                </a:solidFill>
                <a:latin typeface="Calibri"/>
              </a:rPr>
              <a:t>Primary embedder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05840" y="3291840"/>
            <a:ext cx="159105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Export Qwen3-Embedding-0.6B to INT8 ONNX to lift the 27% recall ceiling</a:t>
            </a:r>
          </a:p>
        </p:txBody>
      </p:sp>
      <p:sp>
        <p:nvSpPr>
          <p:cNvPr id="149" name="Oval 148"/>
          <p:cNvSpPr/>
          <p:nvPr/>
        </p:nvSpPr>
        <p:spPr>
          <a:xfrm>
            <a:off x="3630168" y="1737360"/>
            <a:ext cx="640080" cy="640080"/>
          </a:xfrm>
          <a:prstGeom prst="ellipse">
            <a:avLst/>
          </a:prstGeom>
          <a:solidFill>
            <a:srgbClr val="704EA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2990088" y="2743200"/>
            <a:ext cx="1920240" cy="2103120"/>
          </a:xfrm>
          <a:prstGeom prst="roundRect">
            <a:avLst>
              <a:gd name="adj" fmla="val 8000"/>
            </a:avLst>
          </a:prstGeom>
          <a:solidFill>
            <a:srgbClr val="F6F4F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3154680" y="2852928"/>
            <a:ext cx="15910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42B"/>
                </a:solidFill>
                <a:latin typeface="Calibri"/>
              </a:rPr>
              <a:t>Smarter refinement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154680" y="3291840"/>
            <a:ext cx="159105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Per-sub-query fan-out and LLM rewrites; keep them only if they beat the measured wash</a:t>
            </a:r>
          </a:p>
        </p:txBody>
      </p:sp>
      <p:sp>
        <p:nvSpPr>
          <p:cNvPr id="153" name="Oval 152"/>
          <p:cNvSpPr/>
          <p:nvPr/>
        </p:nvSpPr>
        <p:spPr>
          <a:xfrm>
            <a:off x="5779008" y="1737360"/>
            <a:ext cx="640080" cy="640080"/>
          </a:xfrm>
          <a:prstGeom prst="ellipse">
            <a:avLst/>
          </a:prstGeom>
          <a:solidFill>
            <a:srgbClr val="704EA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138928" y="2743200"/>
            <a:ext cx="1920240" cy="2103120"/>
          </a:xfrm>
          <a:prstGeom prst="roundRect">
            <a:avLst>
              <a:gd name="adj" fmla="val 8000"/>
            </a:avLst>
          </a:prstGeom>
          <a:solidFill>
            <a:srgbClr val="F6F4F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5303520" y="2852928"/>
            <a:ext cx="15910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42B"/>
                </a:solidFill>
                <a:latin typeface="Calibri"/>
              </a:rPr>
              <a:t>Labelled versions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303520" y="3291840"/>
            <a:ext cx="159105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A multi-version set with ground truth, to tune the stability bonus</a:t>
            </a:r>
          </a:p>
        </p:txBody>
      </p:sp>
      <p:sp>
        <p:nvSpPr>
          <p:cNvPr id="157" name="Oval 156"/>
          <p:cNvSpPr/>
          <p:nvPr/>
        </p:nvSpPr>
        <p:spPr>
          <a:xfrm>
            <a:off x="7927848" y="1737360"/>
            <a:ext cx="640080" cy="640080"/>
          </a:xfrm>
          <a:prstGeom prst="ellipse">
            <a:avLst/>
          </a:prstGeom>
          <a:solidFill>
            <a:srgbClr val="704EA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7287768" y="2743200"/>
            <a:ext cx="1920240" cy="2103120"/>
          </a:xfrm>
          <a:prstGeom prst="roundRect">
            <a:avLst>
              <a:gd name="adj" fmla="val 8000"/>
            </a:avLst>
          </a:prstGeom>
          <a:solidFill>
            <a:srgbClr val="F6F4F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7452360" y="2852928"/>
            <a:ext cx="15910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42B"/>
                </a:solidFill>
                <a:latin typeface="Calibri"/>
              </a:rPr>
              <a:t>Developer surfaces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452360" y="3291840"/>
            <a:ext cx="159105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An IDE extension and web front end over the existing REST API</a:t>
            </a:r>
          </a:p>
        </p:txBody>
      </p:sp>
      <p:sp>
        <p:nvSpPr>
          <p:cNvPr id="161" name="Oval 160"/>
          <p:cNvSpPr/>
          <p:nvPr/>
        </p:nvSpPr>
        <p:spPr>
          <a:xfrm>
            <a:off x="10076688" y="1737360"/>
            <a:ext cx="640080" cy="640080"/>
          </a:xfrm>
          <a:prstGeom prst="ellipse">
            <a:avLst/>
          </a:prstGeom>
          <a:solidFill>
            <a:srgbClr val="704EA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9436608" y="2743200"/>
            <a:ext cx="1920240" cy="2103120"/>
          </a:xfrm>
          <a:prstGeom prst="roundRect">
            <a:avLst>
              <a:gd name="adj" fmla="val 8000"/>
            </a:avLst>
          </a:prstGeom>
          <a:solidFill>
            <a:srgbClr val="F6F4F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3" name="TextBox 162"/>
          <p:cNvSpPr txBox="1"/>
          <p:nvPr/>
        </p:nvSpPr>
        <p:spPr>
          <a:xfrm>
            <a:off x="9601200" y="2852928"/>
            <a:ext cx="159105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4142B"/>
                </a:solidFill>
                <a:latin typeface="Calibri"/>
              </a:rPr>
              <a:t>Beyond JavaScript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601200" y="3291840"/>
            <a:ext cx="159105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More tree-sitter grammars, plus optimisation hints on retrieved code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841248" y="5212080"/>
            <a:ext cx="10515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1115568" y="5212080"/>
            <a:ext cx="9966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D28D9"/>
                </a:solidFill>
                <a:latin typeface="Calibri"/>
              </a:rPr>
              <a:t>Rule we keep: </a:t>
            </a:r>
            <a:r>
              <a:rPr sz="1400" b="0" i="0">
                <a:solidFill>
                  <a:srgbClr val="14142B"/>
                </a:solidFill>
                <a:latin typeface="Calibri"/>
              </a:rPr>
              <a:t>every number that reaches a slide is one we ran. Step 1 is first because the measurements say recall is the binding constraint.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768096" y="32004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6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Rounded Rectangle 149"/>
          <p:cNvSpPr/>
          <p:nvPr/>
        </p:nvSpPr>
        <p:spPr>
          <a:xfrm>
            <a:off x="841248" y="1417320"/>
            <a:ext cx="3322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/>
          <a:lstStyle/>
          <a:p/>
        </p:txBody>
      </p:sp>
      <p:sp>
        <p:nvSpPr>
          <p:cNvPr id="151" name="Oval 150"/>
          <p:cNvSpPr/>
          <p:nvPr/>
        </p:nvSpPr>
        <p:spPr>
          <a:xfrm>
            <a:off x="1069848" y="1645920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664208" y="1618488"/>
            <a:ext cx="23621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Order-aware call graph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69848" y="2313432"/>
            <a:ext cx="286512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3637E"/>
                </a:solidFill>
                <a:latin typeface="Calibri"/>
              </a:rPr>
              <a:t>Call lists keep source order, so “X before Y” is answered with ordinal evidence. No embedding of any size can do this.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437888" y="1417320"/>
            <a:ext cx="3322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/>
          <a:lstStyle/>
          <a:p/>
        </p:txBody>
      </p:sp>
      <p:sp>
        <p:nvSpPr>
          <p:cNvPr id="155" name="Oval 154"/>
          <p:cNvSpPr/>
          <p:nvPr/>
        </p:nvSpPr>
        <p:spPr>
          <a:xfrm>
            <a:off x="4666488" y="1645920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260848" y="1618488"/>
            <a:ext cx="23621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The LLM never reads code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666488" y="2313432"/>
            <a:ext cx="286512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3637E"/>
                </a:solidFill>
                <a:latin typeface="Calibri"/>
              </a:rPr>
              <a:t>It classifies, expands, decomposes and judges sufficiency, and the module boundary enforces it.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8034528" y="1417320"/>
            <a:ext cx="3322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/>
          <a:lstStyle/>
          <a:p/>
        </p:txBody>
      </p:sp>
      <p:sp>
        <p:nvSpPr>
          <p:cNvPr id="159" name="Oval 158"/>
          <p:cNvSpPr/>
          <p:nvPr/>
        </p:nvSpPr>
        <p:spPr>
          <a:xfrm>
            <a:off x="8263128" y="1645920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857488" y="1618488"/>
            <a:ext cx="23621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Agentic, but bounded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263128" y="2313432"/>
            <a:ext cx="286512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3637E"/>
                </a:solidFill>
                <a:latin typeface="Calibri"/>
              </a:rPr>
              <a:t>At most 2 passes, with a hard 5 s deadline checked before each pass. It stops as soon as the scores say sufficient.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841248" y="3931920"/>
            <a:ext cx="3322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/>
          <a:lstStyle/>
          <a:p/>
        </p:txBody>
      </p:sp>
      <p:sp>
        <p:nvSpPr>
          <p:cNvPr id="163" name="Oval 162"/>
          <p:cNvSpPr/>
          <p:nvPr/>
        </p:nvSpPr>
        <p:spPr>
          <a:xfrm>
            <a:off x="1069848" y="4160520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664208" y="4133087"/>
            <a:ext cx="23621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Cannot-fail degradation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69848" y="4828031"/>
            <a:ext cx="286512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3637E"/>
                </a:solidFill>
                <a:latin typeface="Calibri"/>
              </a:rPr>
              <a:t>No models, no faiss, no bm25s, no tree-sitter: still ranked results, and it names the rung that loaded.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437888" y="3931920"/>
            <a:ext cx="3322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/>
          <a:lstStyle/>
          <a:p/>
        </p:txBody>
      </p:sp>
      <p:sp>
        <p:nvSpPr>
          <p:cNvPr id="167" name="Oval 166"/>
          <p:cNvSpPr/>
          <p:nvPr/>
        </p:nvSpPr>
        <p:spPr>
          <a:xfrm>
            <a:off x="4666488" y="4160520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260848" y="4133087"/>
            <a:ext cx="23621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Renames cost nothing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666488" y="4828031"/>
            <a:ext cx="286512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3637E"/>
                </a:solidFill>
                <a:latin typeface="Calibri"/>
              </a:rPr>
              <a:t>Content-addressed blobs: a 50-file diff re-embeds only its 50 changed chunks, and renamed or reverted code costs 0 calls.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8034528" y="3931920"/>
            <a:ext cx="33223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/>
          <a:lstStyle/>
          <a:p/>
        </p:txBody>
      </p:sp>
      <p:sp>
        <p:nvSpPr>
          <p:cNvPr id="171" name="Oval 170"/>
          <p:cNvSpPr/>
          <p:nvPr/>
        </p:nvSpPr>
        <p:spPr>
          <a:xfrm>
            <a:off x="8263128" y="4160520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857488" y="4133087"/>
            <a:ext cx="23621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A harness that refuses itself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263128" y="4828031"/>
            <a:ext cx="286512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3637E"/>
                </a:solidFill>
                <a:latin typeface="Calibri"/>
              </a:rPr>
              <a:t>Eval will not mark a run reportable while a placeholder is live or the tree is dirty. Corrections stay on the record.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768096" y="32004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36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Rounded Rectangle 155"/>
          <p:cNvSpPr/>
          <p:nvPr/>
        </p:nvSpPr>
        <p:spPr>
          <a:xfrm>
            <a:off x="841248" y="1417320"/>
            <a:ext cx="10515600" cy="1005840"/>
          </a:xfrm>
          <a:prstGeom prst="roundRect">
            <a:avLst>
              <a:gd name="adj" fmla="val 8000"/>
            </a:avLst>
          </a:prstGeom>
          <a:solidFill>
            <a:srgbClr val="F6F4FD"/>
          </a:solidFill>
          <a:ln w="12700">
            <a:solidFill>
              <a:srgbClr val="D9D3F0"/>
            </a:solidFill>
          </a:ln>
        </p:spPr>
        <p:txBody>
          <a:bodyPr rtlCol="0" anchor="ctr"/>
          <a:lstStyle/>
          <a:p/>
        </p:txBody>
      </p:sp>
      <p:sp>
        <p:nvSpPr>
          <p:cNvPr id="157" name="Oval 156"/>
          <p:cNvSpPr/>
          <p:nvPr/>
        </p:nvSpPr>
        <p:spPr>
          <a:xfrm>
            <a:off x="1115568" y="1645920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938528" y="1572768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Working prototype code: public GitHub repo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938528" y="19659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github.com/HarshdeepAthawale/AXIOM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41248" y="2606040"/>
            <a:ext cx="105156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/>
          <a:lstStyle/>
          <a:p/>
        </p:txBody>
      </p:sp>
      <p:sp>
        <p:nvSpPr>
          <p:cNvPr id="161" name="Oval 160"/>
          <p:cNvSpPr/>
          <p:nvPr/>
        </p:nvSpPr>
        <p:spPr>
          <a:xfrm>
            <a:off x="1115568" y="2834640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938528" y="2761488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README with reproducible setup instructions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938528" y="31546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README.md and docs/Setup.md, uv sync --frozen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841248" y="3794760"/>
            <a:ext cx="10515600" cy="1005840"/>
          </a:xfrm>
          <a:prstGeom prst="roundRect">
            <a:avLst>
              <a:gd name="adj" fmla="val 8000"/>
            </a:avLst>
          </a:prstGeom>
          <a:solidFill>
            <a:srgbClr val="F6F4FD"/>
          </a:solidFill>
          <a:ln w="12700">
            <a:solidFill>
              <a:srgbClr val="D9D3F0"/>
            </a:solidFill>
          </a:ln>
        </p:spPr>
        <p:txBody>
          <a:bodyPr rtlCol="0" anchor="ctr"/>
          <a:lstStyle/>
          <a:p/>
        </p:txBody>
      </p:sp>
      <p:sp>
        <p:nvSpPr>
          <p:cNvPr id="165" name="Oval 164"/>
          <p:cNvSpPr/>
          <p:nvPr/>
        </p:nvSpPr>
        <p:spPr>
          <a:xfrm>
            <a:off x="1115568" y="4023360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938528" y="3950208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Demo video, max 5 minutes (YouTube or Drive link)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938528" y="43434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youtu.be/QSGzV12PyO4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841248" y="4983480"/>
            <a:ext cx="105156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rtlCol="0" anchor="ctr"/>
          <a:lstStyle/>
          <a:p/>
        </p:txBody>
      </p:sp>
      <p:sp>
        <p:nvSpPr>
          <p:cNvPr id="169" name="Oval 168"/>
          <p:cNvSpPr/>
          <p:nvPr/>
        </p:nvSpPr>
        <p:spPr>
          <a:xfrm>
            <a:off x="1115568" y="5212080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938528" y="5138928"/>
            <a:ext cx="6766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Presentation file (PPT or PDF)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938528" y="55321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This deck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1115568" y="461772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142B"/>
                </a:solidFill>
                <a:latin typeface="Calibri"/>
              </a:rPr>
              <a:t>Team Incognito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  ·  Axiom: Agentic Code Intelligence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6D28D9"/>
                </a:solidFill>
                <a:latin typeface="Calibri"/>
              </a:rPr>
              <a:t>github.com/HarshdeepAthawale/AXIOM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